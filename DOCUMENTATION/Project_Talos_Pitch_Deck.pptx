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04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A36406E-228D-BC57-692A-687A0ADB4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" y="-286"/>
            <a:ext cx="12192508" cy="685828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71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GRAND PRIX  ·  ELIMINATION ROUND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Talos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4WD skid-steer robot that navigates a tunnel-style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walls both sides, static obstacles overhead — with zero human control.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2E3338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114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N.A.M.I. — Navigational Avoidance &amp; Manoeuvrability Interface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ENIGMA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Nakokutemwa Mapala  ·  Emmanuel Sibuyi  ·  Fanuel Estifanos  ·  Mfundo Motse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348472" y="6355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github.com/enneji022/Project-Talos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7BC78D4-79FC-B5E9-611A-BCEAEB75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84" t="3519" r="13333" b="20000"/>
          <a:stretch>
            <a:fillRect/>
          </a:stretch>
        </p:blipFill>
        <p:spPr>
          <a:xfrm>
            <a:off x="0" y="-541"/>
            <a:ext cx="12192000" cy="6853001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navigation, zero margin for human help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F271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control, no Wi-Fi link, no human contact once the run starts — any intervention forfeits the run.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F271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Tunnel-style track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204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on both sides plus static obstacles overhead, so the robot must judge open space on the fly, not follow a fixed 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965960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286000"/>
            <a:ext cx="502920" cy="502920"/>
          </a:xfrm>
          <a:prstGeom prst="ellipse">
            <a:avLst/>
          </a:prstGeom>
          <a:solidFill>
            <a:srgbClr val="F271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9718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size &amp; safety limits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5204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× 50 cm footprint, sub-5 kg weight, and a mandatory dual E-Stop (physical + wireless) annotated in the design.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 penalty for getting this wrong is total: one human touch and the run is void — so the build has to trust its own sensing completely.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N.A.M.I. — the decision loop that gets Talos through the tunnel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2E333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23160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F271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straight at top speed by default while the front sensor array is clear.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566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711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2E3338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2423160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F271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4747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ultrasonic sensors (0°, ±45°, ±90°) flag an obstacle or approaching corner and the robot slows.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566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711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0" y="214884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2E33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2423160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F271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34747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open space left vs right; steers toward more room, or picks randomly on a tie rather than stalling.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566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711C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95360" y="2148840"/>
            <a:ext cx="2331720" cy="3291840"/>
          </a:xfrm>
          <a:prstGeom prst="roundRect">
            <a:avLst>
              <a:gd name="adj" fmla="val 3137"/>
            </a:avLst>
          </a:prstGeom>
          <a:solidFill>
            <a:srgbClr val="2E3338"/>
          </a:solidFill>
          <a:ln/>
        </p:spPr>
      </p:sp>
      <p:sp>
        <p:nvSpPr>
          <p:cNvPr id="23" name="Shape 21"/>
          <p:cNvSpPr/>
          <p:nvPr/>
        </p:nvSpPr>
        <p:spPr>
          <a:xfrm>
            <a:off x="8823960" y="2423160"/>
            <a:ext cx="457200" cy="457200"/>
          </a:xfrm>
          <a:prstGeom prst="roundRect">
            <a:avLst>
              <a:gd name="adj" fmla="val 50000"/>
            </a:avLst>
          </a:prstGeom>
          <a:ln w="19050">
            <a:solidFill>
              <a:srgbClr val="F271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23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82396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34747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heading + wheel-encoder distance track position, forcing the opposite choice if it revisits a spot.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across two ESP32 boards: a Sensor board runs all NAMI decision logic; a Motor board only executes drive commands — keeping safety-critical motor control isolated from decision logic.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22EDF33-4CDB-E3AB-28D8-028CEFEB9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BUILDABILITY &amp; TECHNICAL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boards, one job split cleanly in two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HARDWARE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6888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4WD skid-steer chassis · 4× JGB37-520 geared DC motors w/ encoders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</a:t>
            </a:r>
            <a:r>
              <a:rPr lang="en-US" sz="1200" dirty="0">
                <a:solidFill>
                  <a:srgbClr val="1B1E21"/>
                </a:solidFill>
              </a:rPr>
              <a:t>L298N</a:t>
            </a: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motor drivers (one per differential side)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HC-SR04 ultrasonic array (front, near-180° coverage)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1–2× IR proximity sensors (backup obstacle detection)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IMU for heading / position tracking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ESP32 (sensor board + motor board) linked by UART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▪"/>
            </a:pPr>
            <a:r>
              <a:rPr lang="en-US" sz="115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E-Stop — physical mushroom switch + RF kill switch — on a shared cutoff relay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2327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BOARD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3774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8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NAMI decision logic — reads the sensor array + IMU, chooses steer direction, and sends drive commands over UART.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1546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6.8% RAM · 23.8% flash used (PlatformIO, esp32doit-devkit-v1) — zero warnings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0760" y="39319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4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4114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BOARD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4480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whatever drive command it's sent — keeps safety-critical motor control simple and isolated from decision logic.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5257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6.7% RAM · 21.3% flash used — version-guarded LEDC macro fixes a real ESP32 3.x/older-toolchain API mismatch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simulation before a wheel turns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in Wokwi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warnings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both boards (Know)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7432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PlatformIO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verified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881360" cy="0"/>
          </a:xfrm>
          <a:prstGeom prst="line">
            <a:avLst/>
          </a:prstGeom>
          <a:noFill/>
          <a:ln w="12700">
            <a:solidFill>
              <a:srgbClr val="3A40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DEMONSTRATED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0624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D8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run in the Wokwi simulator against a 5× ultrasonic + MPU6050 + IR rig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D8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CRUISE → DECISION transition when an obstacle enters range, steering toward the side with more space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2062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 coin-flip &amp; loop-prevention override are code-reviewed against spec, not yet individually triggered in a test run</a:t>
            </a:r>
            <a:endParaRPr lang="en-US" sz="1150" dirty="0"/>
          </a:p>
          <a:p>
            <a:pPr marL="177800" indent="-177800">
              <a:lnSpc>
                <a:spcPct val="130000"/>
              </a:lnSpc>
              <a:buSzPct val="100000"/>
              <a:buChar char="▪"/>
            </a:pPr>
            <a:r>
              <a:rPr lang="en-US" sz="11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Board-to-board UART link verified by direct struct byte-matching, not a live combined simulation (no Wokwi part for the TB6612FNG)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E0A7E70-7DB3-B0AA-0011-E1EA98D38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IMPLEMENTATION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build, full BOM traceability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2327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(ZAR)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2,640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29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~R500 confirmed live on-site · ~R2,140 estimated, to be re-checked in-cart before ordering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4480560"/>
            <a:ext cx="3017520" cy="0"/>
          </a:xfrm>
          <a:prstGeom prst="line">
            <a:avLst/>
          </a:prstGeom>
          <a:noFill/>
          <a:ln w="12700">
            <a:solidFill>
              <a:srgbClr val="444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617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itemised Bill of Materials — component, qty, unit price, supplier, stock code, direct link — is in Folder C of the repo.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874520"/>
          <a:ext cx="6995160" cy="3931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Line Total (ZAR)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Compute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ESP32 Dev Board (WROOM-32)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196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Motor Control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L298N Dual H-Bridge Driver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72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Sensing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HC-SR04 Ultrasonic (5) + MPU6050 + IR (2)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360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Drive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12V Gear Motors + Wheels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4 + 4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940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Safety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Mushroom E-Stop + RF Kill Switch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362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Power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12V Battery Packs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560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Misc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Wiring, connectors, mounting hardware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B1E21"/>
                          </a:solidFill>
                        </a:rPr>
                        <a:t>R 150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7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3627" y="894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Enigma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2E3338"/>
          </a:solidFill>
          <a:ln/>
        </p:spPr>
      </p:sp>
      <p:sp>
        <p:nvSpPr>
          <p:cNvPr id="5" name="Shape 3"/>
          <p:cNvSpPr/>
          <p:nvPr/>
        </p:nvSpPr>
        <p:spPr>
          <a:xfrm>
            <a:off x="1211580" y="2331720"/>
            <a:ext cx="1371600" cy="1371600"/>
          </a:xfrm>
          <a:prstGeom prst="ellipse">
            <a:avLst/>
          </a:prstGeom>
          <a:solidFill>
            <a:srgbClr val="3A4048"/>
          </a:solidFill>
          <a:ln w="19050">
            <a:solidFill>
              <a:srgbClr val="F271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11580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319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Nakokutemwa Mapala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Background Research · 3D Modelling · Coding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2E3338"/>
          </a:solidFill>
          <a:ln/>
        </p:spPr>
      </p:sp>
      <p:sp>
        <p:nvSpPr>
          <p:cNvPr id="10" name="Shape 8"/>
          <p:cNvSpPr/>
          <p:nvPr/>
        </p:nvSpPr>
        <p:spPr>
          <a:xfrm>
            <a:off x="3982212" y="2331720"/>
            <a:ext cx="1371600" cy="1371600"/>
          </a:xfrm>
          <a:prstGeom prst="ellipse">
            <a:avLst/>
          </a:prstGeom>
          <a:solidFill>
            <a:srgbClr val="3A4048"/>
          </a:solidFill>
          <a:ln w="19050">
            <a:solidFill>
              <a:srgbClr val="F271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82212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39319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Sibuyi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45720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96596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2E3338"/>
          </a:solidFill>
          <a:ln/>
        </p:spPr>
      </p:sp>
      <p:sp>
        <p:nvSpPr>
          <p:cNvPr id="15" name="Shape 13"/>
          <p:cNvSpPr/>
          <p:nvPr/>
        </p:nvSpPr>
        <p:spPr>
          <a:xfrm>
            <a:off x="6752844" y="2331720"/>
            <a:ext cx="1371600" cy="1371600"/>
          </a:xfrm>
          <a:prstGeom prst="ellipse">
            <a:avLst/>
          </a:prstGeom>
          <a:solidFill>
            <a:srgbClr val="3A4048"/>
          </a:solidFill>
          <a:ln w="19050">
            <a:solidFill>
              <a:srgbClr val="F271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52844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39319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Fanuel Estifanos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45720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Researcher · Coding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51976" y="1965960"/>
            <a:ext cx="2514600" cy="4023360"/>
          </a:xfrm>
          <a:prstGeom prst="roundRect">
            <a:avLst>
              <a:gd name="adj" fmla="val 2909"/>
            </a:avLst>
          </a:prstGeom>
          <a:solidFill>
            <a:srgbClr val="2E3338"/>
          </a:solidFill>
          <a:ln/>
        </p:spPr>
      </p:sp>
      <p:sp>
        <p:nvSpPr>
          <p:cNvPr id="20" name="Shape 18"/>
          <p:cNvSpPr/>
          <p:nvPr/>
        </p:nvSpPr>
        <p:spPr>
          <a:xfrm>
            <a:off x="9523476" y="2331720"/>
            <a:ext cx="1371600" cy="1371600"/>
          </a:xfrm>
          <a:prstGeom prst="ellipse">
            <a:avLst/>
          </a:prstGeom>
          <a:solidFill>
            <a:srgbClr val="3A4048"/>
          </a:solidFill>
          <a:ln w="19050">
            <a:solidFill>
              <a:srgbClr val="F271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23476" y="23317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34856" y="39319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Mfundo Motse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34856" y="457200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B9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· Slide Deck · Technical Report · Documentation Lead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AlgoAtWork · Robo Rumble — Robo Grand Prix Elimination Round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17352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B317992-BCFF-D6A3-86D6-CE9ECF635F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41" t="15021" r="14979" b="19444"/>
          <a:stretch>
            <a:fillRect/>
          </a:stretch>
        </p:blipFill>
        <p:spPr>
          <a:xfrm>
            <a:off x="924122" y="2146722"/>
            <a:ext cx="1837615" cy="1783261"/>
          </a:xfrm>
          <a:prstGeom prst="flowChartConnector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B861AD3-3F2D-C397-B7D7-8CAD1FB796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7" t="14151" r="4529" b="28113"/>
          <a:stretch>
            <a:fillRect/>
          </a:stretch>
        </p:blipFill>
        <p:spPr>
          <a:xfrm>
            <a:off x="3838278" y="2146722"/>
            <a:ext cx="1847765" cy="1741594"/>
          </a:xfrm>
          <a:prstGeom prst="flowChartConnector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DEE7EA0-9BBF-23DA-D6DD-81DBE55695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2146722"/>
            <a:ext cx="1751076" cy="1735222"/>
          </a:xfrm>
          <a:prstGeom prst="flowChartConnector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63B2961-62BD-7880-CF09-4D0BD641C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282" y="2146056"/>
            <a:ext cx="1695987" cy="1783927"/>
          </a:xfrm>
          <a:prstGeom prst="flowChartConnector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848</Words>
  <Application>Microsoft Office PowerPoint</Application>
  <PresentationFormat>Widescreen</PresentationFormat>
  <Paragraphs>137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NAKOKUTEMWA MAPALA</cp:lastModifiedBy>
  <cp:revision>2</cp:revision>
  <dcterms:created xsi:type="dcterms:W3CDTF">2026-09-09T21:26:28Z</dcterms:created>
  <dcterms:modified xsi:type="dcterms:W3CDTF">2026-09-09T21:54:40Z</dcterms:modified>
</cp:coreProperties>
</file>